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2E"/>
    <a:srgbClr val="CCF30B"/>
    <a:srgbClr val="19EB32"/>
    <a:srgbClr val="08FC25"/>
    <a:srgbClr val="E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4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i="1" dirty="0">
                <a:latin typeface="Franklin Gothic Book" panose="020B0503020102020204" pitchFamily="34" charset="0"/>
              </a:rPr>
              <a:t>SWOT </a:t>
            </a:r>
            <a:r>
              <a:rPr b="1" i="1" dirty="0" err="1">
                <a:latin typeface="Franklin Gothic Book" panose="020B0503020102020204" pitchFamily="34" charset="0"/>
              </a:rPr>
              <a:t>Analizi</a:t>
            </a:r>
            <a:r>
              <a:rPr b="1" i="1" dirty="0">
                <a:latin typeface="Franklin Gothic Book" panose="020B0503020102020204" pitchFamily="34" charset="0"/>
              </a:rPr>
              <a:t> – Energy Covert Channel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57200"/>
            <a:ext cx="3907536" cy="2517648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i="1" dirty="0" smtClean="0">
                <a:latin typeface="Franklin Gothic Book" panose="020B0503020102020204" pitchFamily="34" charset="0"/>
              </a:rPr>
              <a:t>STRENGTHS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</a:defRPr>
            </a:pPr>
            <a:r>
              <a:rPr dirty="0" err="1" smtClean="0">
                <a:latin typeface="Franklin Gothic Book" panose="020B0503020102020204" pitchFamily="34" charset="0"/>
              </a:rPr>
              <a:t>Klasik</a:t>
            </a:r>
            <a:r>
              <a:rPr dirty="0" smtClean="0">
                <a:latin typeface="Franklin Gothic Book" panose="020B0503020102020204" pitchFamily="34" charset="0"/>
              </a:rPr>
              <a:t> </a:t>
            </a:r>
            <a:r>
              <a:rPr dirty="0" err="1" smtClean="0">
                <a:latin typeface="Franklin Gothic Book" panose="020B0503020102020204" pitchFamily="34" charset="0"/>
              </a:rPr>
              <a:t>önlemleri</a:t>
            </a:r>
            <a:r>
              <a:rPr dirty="0" smtClean="0">
                <a:latin typeface="Franklin Gothic Book" panose="020B0503020102020204" pitchFamily="34" charset="0"/>
              </a:rPr>
              <a:t> </a:t>
            </a:r>
            <a:r>
              <a:rPr dirty="0" err="1" smtClean="0">
                <a:latin typeface="Franklin Gothic Book" panose="020B0503020102020204" pitchFamily="34" charset="0"/>
              </a:rPr>
              <a:t>atlatma</a:t>
            </a:r>
            <a:endParaRPr lang="tr-TR" dirty="0" smtClean="0">
              <a:latin typeface="Franklin Gothic Book" panose="020B05030201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</a:defRPr>
            </a:pPr>
            <a:r>
              <a:rPr lang="tr-TR" sz="1600" dirty="0" smtClean="0">
                <a:latin typeface="Franklin Gothic Book" panose="020B0503020102020204" pitchFamily="34" charset="0"/>
              </a:rPr>
              <a:t>Yüksek </a:t>
            </a:r>
            <a:r>
              <a:rPr lang="tr-TR" sz="1600" dirty="0">
                <a:latin typeface="Franklin Gothic Book" panose="020B0503020102020204" pitchFamily="34" charset="0"/>
              </a:rPr>
              <a:t>Değerli Veri Sızdırma </a:t>
            </a:r>
            <a:r>
              <a:rPr lang="tr-TR" sz="1600" dirty="0" smtClean="0">
                <a:latin typeface="Franklin Gothic Book" panose="020B0503020102020204" pitchFamily="34" charset="0"/>
              </a:rPr>
              <a:t>Potansiyeli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</a:defRPr>
            </a:pPr>
            <a:r>
              <a:rPr lang="tr-TR" dirty="0">
                <a:latin typeface="Franklin Gothic Book" panose="020B0503020102020204" pitchFamily="34" charset="0"/>
              </a:rPr>
              <a:t>Fiziksel katman istismarı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059680" y="457200"/>
            <a:ext cx="3810000" cy="2517648"/>
          </a:xfrm>
          <a:prstGeom prst="roundRect">
            <a:avLst/>
          </a:prstGeom>
          <a:solidFill>
            <a:srgbClr val="E6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i="1" dirty="0">
                <a:latin typeface="Franklin Gothic Book" panose="020B0503020102020204" pitchFamily="34" charset="0"/>
              </a:rPr>
              <a:t>WEAKNESSES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</a:defRPr>
            </a:pPr>
            <a:r>
              <a:rPr lang="tr-TR" dirty="0">
                <a:latin typeface="Franklin Gothic Book" panose="020B0503020102020204" pitchFamily="34" charset="0"/>
              </a:rPr>
              <a:t>	</a:t>
            </a:r>
            <a:r>
              <a:rPr dirty="0" smtClean="0">
                <a:latin typeface="Franklin Gothic Book" panose="020B0503020102020204" pitchFamily="34" charset="0"/>
              </a:rPr>
              <a:t> </a:t>
            </a:r>
            <a:r>
              <a:rPr dirty="0" err="1">
                <a:latin typeface="Franklin Gothic Book" panose="020B0503020102020204" pitchFamily="34" charset="0"/>
              </a:rPr>
              <a:t>Fiziksel</a:t>
            </a:r>
            <a:r>
              <a:rPr dirty="0">
                <a:latin typeface="Franklin Gothic Book" panose="020B0503020102020204" pitchFamily="34" charset="0"/>
              </a:rPr>
              <a:t> </a:t>
            </a:r>
            <a:r>
              <a:rPr dirty="0" err="1">
                <a:latin typeface="Franklin Gothic Book" panose="020B0503020102020204" pitchFamily="34" charset="0"/>
              </a:rPr>
              <a:t>yakınlık</a:t>
            </a:r>
            <a:r>
              <a:rPr dirty="0">
                <a:latin typeface="Franklin Gothic Book" panose="020B0503020102020204" pitchFamily="34" charset="0"/>
              </a:rPr>
              <a:t> </a:t>
            </a:r>
            <a:r>
              <a:rPr dirty="0" err="1">
                <a:latin typeface="Franklin Gothic Book" panose="020B0503020102020204" pitchFamily="34" charset="0"/>
              </a:rPr>
              <a:t>gerektirir</a:t>
            </a:r>
            <a:endParaRPr dirty="0">
              <a:latin typeface="Franklin Gothic Book" panose="020B05030201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</a:defRPr>
            </a:pPr>
            <a:r>
              <a:rPr dirty="0" smtClean="0">
                <a:latin typeface="Franklin Gothic Book" panose="020B0503020102020204" pitchFamily="34" charset="0"/>
              </a:rPr>
              <a:t> </a:t>
            </a:r>
            <a:r>
              <a:rPr lang="tr-TR" dirty="0" smtClean="0">
                <a:latin typeface="Franklin Gothic Book" panose="020B0503020102020204" pitchFamily="34" charset="0"/>
              </a:rPr>
              <a:t>	</a:t>
            </a:r>
            <a:r>
              <a:rPr dirty="0" err="1" smtClean="0">
                <a:latin typeface="Franklin Gothic Book" panose="020B0503020102020204" pitchFamily="34" charset="0"/>
              </a:rPr>
              <a:t>Karmaşık</a:t>
            </a:r>
            <a:r>
              <a:rPr dirty="0" smtClean="0">
                <a:latin typeface="Franklin Gothic Book" panose="020B0503020102020204" pitchFamily="34" charset="0"/>
              </a:rPr>
              <a:t> </a:t>
            </a:r>
            <a:r>
              <a:rPr dirty="0" err="1">
                <a:latin typeface="Franklin Gothic Book" panose="020B0503020102020204" pitchFamily="34" charset="0"/>
              </a:rPr>
              <a:t>uygulama</a:t>
            </a:r>
            <a:endParaRPr dirty="0">
              <a:latin typeface="Franklin Gothic Book" panose="020B05030201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</a:defRPr>
            </a:pPr>
            <a:r>
              <a:rPr lang="tr-TR" dirty="0" smtClean="0">
                <a:latin typeface="Franklin Gothic Book" panose="020B0503020102020204" pitchFamily="34" charset="0"/>
              </a:rPr>
              <a:t>	</a:t>
            </a:r>
            <a:r>
              <a:rPr dirty="0" err="1" smtClean="0">
                <a:latin typeface="Franklin Gothic Book" panose="020B0503020102020204" pitchFamily="34" charset="0"/>
              </a:rPr>
              <a:t>Sensör</a:t>
            </a:r>
            <a:r>
              <a:rPr dirty="0" smtClean="0">
                <a:latin typeface="Franklin Gothic Book" panose="020B0503020102020204" pitchFamily="34" charset="0"/>
              </a:rPr>
              <a:t>/</a:t>
            </a:r>
            <a:r>
              <a:rPr dirty="0" err="1" smtClean="0">
                <a:latin typeface="Franklin Gothic Book" panose="020B0503020102020204" pitchFamily="34" charset="0"/>
              </a:rPr>
              <a:t>yük</a:t>
            </a:r>
            <a:r>
              <a:rPr dirty="0" smtClean="0">
                <a:latin typeface="Franklin Gothic Book" panose="020B0503020102020204" pitchFamily="34" charset="0"/>
              </a:rPr>
              <a:t> </a:t>
            </a:r>
            <a:r>
              <a:rPr dirty="0" err="1">
                <a:latin typeface="Franklin Gothic Book" panose="020B0503020102020204" pitchFamily="34" charset="0"/>
              </a:rPr>
              <a:t>altyapısı</a:t>
            </a:r>
            <a:r>
              <a:rPr dirty="0">
                <a:latin typeface="Franklin Gothic Book" panose="020B0503020102020204" pitchFamily="34" charset="0"/>
              </a:rPr>
              <a:t> </a:t>
            </a:r>
            <a:r>
              <a:rPr dirty="0" err="1" smtClean="0">
                <a:latin typeface="Franklin Gothic Book" panose="020B0503020102020204" pitchFamily="34" charset="0"/>
              </a:rPr>
              <a:t>ihtiyacı</a:t>
            </a:r>
            <a:endParaRPr lang="tr-TR" dirty="0" smtClean="0">
              <a:latin typeface="Franklin Gothic Book" panose="020B05030201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</a:defRPr>
            </a:pPr>
            <a:r>
              <a:rPr lang="tr-TR" dirty="0" smtClean="0">
                <a:latin typeface="Franklin Gothic Book" panose="020B0503020102020204" pitchFamily="34" charset="0"/>
              </a:rPr>
              <a:t>	</a:t>
            </a:r>
            <a:r>
              <a:rPr lang="tr-TR" sz="1600" dirty="0">
                <a:latin typeface="Franklin Gothic Book" panose="020B0503020102020204" pitchFamily="34" charset="0"/>
              </a:rPr>
              <a:t>Düşük Bant Genişliği </a:t>
            </a:r>
            <a:endParaRPr lang="tr-TR" sz="1600" dirty="0" smtClean="0">
              <a:latin typeface="Franklin Gothic Book" panose="020B05030201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</a:defRPr>
            </a:pPr>
            <a:r>
              <a:rPr lang="tr-TR" sz="1600" dirty="0">
                <a:latin typeface="Franklin Gothic Book" panose="020B0503020102020204" pitchFamily="34" charset="0"/>
              </a:rPr>
              <a:t>	</a:t>
            </a:r>
            <a:r>
              <a:rPr lang="tr-TR" sz="1600" dirty="0">
                <a:latin typeface="Franklin Gothic Book" panose="020B0503020102020204" pitchFamily="34" charset="0"/>
              </a:rPr>
              <a:t>Gürültüye Duyarlılık</a:t>
            </a:r>
            <a:endParaRPr dirty="0">
              <a:latin typeface="Franklin Gothic Book" panose="020B05030201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3383280"/>
            <a:ext cx="3907536" cy="2554224"/>
          </a:xfrm>
          <a:prstGeom prst="roundRect">
            <a:avLst/>
          </a:prstGeom>
          <a:solidFill>
            <a:srgbClr val="19EB3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i="1" dirty="0">
                <a:latin typeface="Franklin Gothic Book" panose="020B0503020102020204" pitchFamily="34" charset="0"/>
              </a:rPr>
              <a:t>OPPORTUNITIES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</a:defRPr>
            </a:pPr>
            <a:r>
              <a:rPr dirty="0" err="1" smtClean="0">
                <a:latin typeface="Franklin Gothic Book" panose="020B0503020102020204" pitchFamily="34" charset="0"/>
              </a:rPr>
              <a:t>Akademik</a:t>
            </a:r>
            <a:r>
              <a:rPr dirty="0" smtClean="0">
                <a:latin typeface="Franklin Gothic Book" panose="020B0503020102020204" pitchFamily="34" charset="0"/>
              </a:rPr>
              <a:t> </a:t>
            </a:r>
            <a:r>
              <a:rPr dirty="0" err="1">
                <a:latin typeface="Franklin Gothic Book" panose="020B0503020102020204" pitchFamily="34" charset="0"/>
              </a:rPr>
              <a:t>araştırma</a:t>
            </a:r>
            <a:r>
              <a:rPr dirty="0">
                <a:latin typeface="Franklin Gothic Book" panose="020B0503020102020204" pitchFamily="34" charset="0"/>
              </a:rPr>
              <a:t> </a:t>
            </a:r>
            <a:r>
              <a:rPr dirty="0" err="1">
                <a:latin typeface="Franklin Gothic Book" panose="020B0503020102020204" pitchFamily="34" charset="0"/>
              </a:rPr>
              <a:t>potansiyeli</a:t>
            </a:r>
            <a:endParaRPr dirty="0">
              <a:latin typeface="Franklin Gothic Book" panose="020B05030201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</a:defRPr>
            </a:pPr>
            <a:r>
              <a:rPr dirty="0" err="1" smtClean="0">
                <a:latin typeface="Franklin Gothic Book" panose="020B0503020102020204" pitchFamily="34" charset="0"/>
              </a:rPr>
              <a:t>Yeni</a:t>
            </a:r>
            <a:r>
              <a:rPr dirty="0" smtClean="0">
                <a:latin typeface="Franklin Gothic Book" panose="020B0503020102020204" pitchFamily="34" charset="0"/>
              </a:rPr>
              <a:t> </a:t>
            </a:r>
            <a:r>
              <a:rPr dirty="0" err="1">
                <a:latin typeface="Franklin Gothic Book" panose="020B0503020102020204" pitchFamily="34" charset="0"/>
              </a:rPr>
              <a:t>güvenlik</a:t>
            </a:r>
            <a:r>
              <a:rPr dirty="0">
                <a:latin typeface="Franklin Gothic Book" panose="020B0503020102020204" pitchFamily="34" charset="0"/>
              </a:rPr>
              <a:t> </a:t>
            </a:r>
            <a:r>
              <a:rPr dirty="0" err="1">
                <a:latin typeface="Franklin Gothic Book" panose="020B0503020102020204" pitchFamily="34" charset="0"/>
              </a:rPr>
              <a:t>standartları</a:t>
            </a:r>
            <a:endParaRPr dirty="0">
              <a:latin typeface="Franklin Gothic Book" panose="020B05030201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</a:defRPr>
            </a:pPr>
            <a:r>
              <a:rPr dirty="0" smtClean="0">
                <a:latin typeface="Franklin Gothic Book" panose="020B0503020102020204" pitchFamily="34" charset="0"/>
              </a:rPr>
              <a:t>ML </a:t>
            </a:r>
            <a:r>
              <a:rPr dirty="0" err="1">
                <a:latin typeface="Franklin Gothic Book" panose="020B0503020102020204" pitchFamily="34" charset="0"/>
              </a:rPr>
              <a:t>tabanlı</a:t>
            </a:r>
            <a:r>
              <a:rPr dirty="0">
                <a:latin typeface="Franklin Gothic Book" panose="020B0503020102020204" pitchFamily="34" charset="0"/>
              </a:rPr>
              <a:t> </a:t>
            </a:r>
            <a:r>
              <a:rPr dirty="0" err="1">
                <a:latin typeface="Franklin Gothic Book" panose="020B0503020102020204" pitchFamily="34" charset="0"/>
              </a:rPr>
              <a:t>tespit</a:t>
            </a:r>
            <a:r>
              <a:rPr dirty="0">
                <a:latin typeface="Franklin Gothic Book" panose="020B0503020102020204" pitchFamily="34" charset="0"/>
              </a:rPr>
              <a:t> </a:t>
            </a:r>
            <a:r>
              <a:rPr dirty="0" err="1" smtClean="0">
                <a:latin typeface="Franklin Gothic Book" panose="020B0503020102020204" pitchFamily="34" charset="0"/>
              </a:rPr>
              <a:t>sistemleri</a:t>
            </a:r>
            <a:endParaRPr lang="tr-TR" dirty="0" smtClean="0">
              <a:latin typeface="Franklin Gothic Book" panose="020B05030201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</a:defRPr>
            </a:pPr>
            <a:r>
              <a:rPr lang="tr-TR" sz="1600" dirty="0">
                <a:latin typeface="Franklin Gothic Book" panose="020B0503020102020204" pitchFamily="34" charset="0"/>
              </a:rPr>
              <a:t>Ticari Fırsat (Yeni Ürün Geliştirme</a:t>
            </a:r>
            <a:r>
              <a:rPr lang="tr-TR" sz="1600" dirty="0" smtClean="0">
                <a:latin typeface="Franklin Gothic Book" panose="020B0503020102020204" pitchFamily="34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</a:defRPr>
            </a:pPr>
            <a:r>
              <a:rPr lang="tr-TR" sz="1600" dirty="0" err="1">
                <a:latin typeface="Franklin Gothic Book" panose="020B0503020102020204" pitchFamily="34" charset="0"/>
              </a:rPr>
              <a:t>Proaktif</a:t>
            </a:r>
            <a:r>
              <a:rPr lang="tr-TR" sz="1600" dirty="0">
                <a:latin typeface="Franklin Gothic Book" panose="020B0503020102020204" pitchFamily="34" charset="0"/>
              </a:rPr>
              <a:t> Savunma Geliştirme </a:t>
            </a:r>
            <a:endParaRPr dirty="0">
              <a:latin typeface="Franklin Gothic Book" panose="020B05030201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59680" y="3383280"/>
            <a:ext cx="3810000" cy="2602992"/>
          </a:xfrm>
          <a:prstGeom prst="roundRect">
            <a:avLst/>
          </a:prstGeom>
          <a:solidFill>
            <a:srgbClr val="CCF30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i="1" dirty="0">
                <a:latin typeface="Franklin Gothic Book" panose="020B0503020102020204" pitchFamily="34" charset="0"/>
              </a:rPr>
              <a:t>THREATS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</a:defRPr>
            </a:pPr>
            <a:r>
              <a:rPr dirty="0" smtClean="0">
                <a:latin typeface="Franklin Gothic Book" panose="020B0503020102020204" pitchFamily="34" charset="0"/>
              </a:rPr>
              <a:t> </a:t>
            </a:r>
            <a:r>
              <a:rPr dirty="0" err="1">
                <a:latin typeface="Franklin Gothic Book" panose="020B0503020102020204" pitchFamily="34" charset="0"/>
              </a:rPr>
              <a:t>Regülasyon</a:t>
            </a:r>
            <a:r>
              <a:rPr dirty="0">
                <a:latin typeface="Franklin Gothic Book" panose="020B0503020102020204" pitchFamily="34" charset="0"/>
              </a:rPr>
              <a:t> </a:t>
            </a:r>
            <a:r>
              <a:rPr dirty="0" err="1">
                <a:latin typeface="Franklin Gothic Book" panose="020B0503020102020204" pitchFamily="34" charset="0"/>
              </a:rPr>
              <a:t>riskleri</a:t>
            </a:r>
            <a:endParaRPr dirty="0">
              <a:latin typeface="Franklin Gothic Book" panose="020B05030201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</a:defRPr>
            </a:pPr>
            <a:r>
              <a:rPr dirty="0" smtClean="0">
                <a:latin typeface="Franklin Gothic Book" panose="020B0503020102020204" pitchFamily="34" charset="0"/>
              </a:rPr>
              <a:t> </a:t>
            </a:r>
            <a:r>
              <a:rPr dirty="0" err="1">
                <a:latin typeface="Franklin Gothic Book" panose="020B0503020102020204" pitchFamily="34" charset="0"/>
              </a:rPr>
              <a:t>Yanlış</a:t>
            </a:r>
            <a:r>
              <a:rPr dirty="0">
                <a:latin typeface="Franklin Gothic Book" panose="020B0503020102020204" pitchFamily="34" charset="0"/>
              </a:rPr>
              <a:t> </a:t>
            </a:r>
            <a:r>
              <a:rPr dirty="0" err="1">
                <a:latin typeface="Franklin Gothic Book" panose="020B0503020102020204" pitchFamily="34" charset="0"/>
              </a:rPr>
              <a:t>pozitif</a:t>
            </a:r>
            <a:r>
              <a:rPr dirty="0">
                <a:latin typeface="Franklin Gothic Book" panose="020B0503020102020204" pitchFamily="34" charset="0"/>
              </a:rPr>
              <a:t> </a:t>
            </a:r>
            <a:r>
              <a:rPr dirty="0" err="1" smtClean="0">
                <a:latin typeface="Franklin Gothic Book" panose="020B0503020102020204" pitchFamily="34" charset="0"/>
              </a:rPr>
              <a:t>maliyetleri</a:t>
            </a:r>
            <a:endParaRPr dirty="0" smtClean="0">
              <a:latin typeface="Franklin Gothic Book" panose="020B05030201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</a:defRPr>
            </a:pPr>
            <a:r>
              <a:rPr dirty="0" smtClean="0">
                <a:latin typeface="Franklin Gothic Book" panose="020B0503020102020204" pitchFamily="34" charset="0"/>
              </a:rPr>
              <a:t> </a:t>
            </a:r>
            <a:r>
              <a:rPr dirty="0" err="1" smtClean="0">
                <a:latin typeface="Franklin Gothic Book" panose="020B0503020102020204" pitchFamily="34" charset="0"/>
              </a:rPr>
              <a:t>Operasyonel</a:t>
            </a:r>
            <a:r>
              <a:rPr dirty="0" smtClean="0">
                <a:latin typeface="Franklin Gothic Book" panose="020B0503020102020204" pitchFamily="34" charset="0"/>
              </a:rPr>
              <a:t> </a:t>
            </a:r>
            <a:r>
              <a:rPr dirty="0" err="1" smtClean="0">
                <a:latin typeface="Franklin Gothic Book" panose="020B0503020102020204" pitchFamily="34" charset="0"/>
              </a:rPr>
              <a:t>müdahale</a:t>
            </a:r>
            <a:r>
              <a:rPr dirty="0" smtClean="0">
                <a:latin typeface="Franklin Gothic Book" panose="020B0503020102020204" pitchFamily="34" charset="0"/>
              </a:rPr>
              <a:t> </a:t>
            </a:r>
            <a:r>
              <a:rPr dirty="0" err="1" smtClean="0">
                <a:latin typeface="Franklin Gothic Book" panose="020B0503020102020204" pitchFamily="34" charset="0"/>
              </a:rPr>
              <a:t>yükü</a:t>
            </a:r>
            <a:endParaRPr lang="tr-TR" dirty="0" smtClean="0">
              <a:latin typeface="Franklin Gothic Book" panose="020B05030201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</a:defRPr>
            </a:pPr>
            <a:r>
              <a:rPr lang="tr-TR" sz="1600" dirty="0" smtClean="0">
                <a:latin typeface="Franklin Gothic Book" panose="020B0503020102020204" pitchFamily="34" charset="0"/>
              </a:rPr>
              <a:t>Yüksek </a:t>
            </a:r>
            <a:r>
              <a:rPr lang="tr-TR" sz="1600" dirty="0">
                <a:latin typeface="Franklin Gothic Book" panose="020B0503020102020204" pitchFamily="34" charset="0"/>
              </a:rPr>
              <a:t>Altyapı Maliyeti </a:t>
            </a:r>
            <a:endParaRPr lang="tr-TR" sz="1600" dirty="0" smtClean="0">
              <a:latin typeface="Franklin Gothic Book" panose="020B05030201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</a:defRPr>
            </a:pPr>
            <a:r>
              <a:rPr lang="tr-TR" sz="1600" dirty="0">
                <a:latin typeface="Franklin Gothic Book" panose="020B0503020102020204" pitchFamily="34" charset="0"/>
              </a:rPr>
              <a:t>Ölçeklenebilirlik </a:t>
            </a:r>
            <a:r>
              <a:rPr lang="tr-TR" sz="1600" dirty="0" smtClean="0">
                <a:latin typeface="Franklin Gothic Book" panose="020B0503020102020204" pitchFamily="34" charset="0"/>
              </a:rPr>
              <a:t>Zorluğu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</a:defRPr>
            </a:pPr>
            <a:r>
              <a:rPr lang="tr-TR" sz="1600" dirty="0">
                <a:latin typeface="Franklin Gothic Book" panose="020B0503020102020204" pitchFamily="34" charset="0"/>
              </a:rPr>
              <a:t>Hizmet Kesintisi Riski</a:t>
            </a:r>
            <a:endParaRPr dirty="0">
              <a:latin typeface="Franklin Gothic Book" panose="020B0503020102020204" pitchFamily="34" charset="0"/>
            </a:endParaRPr>
          </a:p>
        </p:txBody>
      </p:sp>
      <p:pic>
        <p:nvPicPr>
          <p:cNvPr id="9" name="Resim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6365" y="582054"/>
            <a:ext cx="698675" cy="698675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992" y="3477654"/>
            <a:ext cx="658368" cy="658368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528" y="582054"/>
            <a:ext cx="728813" cy="728813"/>
          </a:xfrm>
          <a:prstGeom prst="rect">
            <a:avLst/>
          </a:prstGeom>
        </p:spPr>
      </p:pic>
      <p:pic>
        <p:nvPicPr>
          <p:cNvPr id="13" name="Resim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966" y="3561134"/>
            <a:ext cx="603220" cy="603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80</Words>
  <Application>Microsoft Office PowerPoint</Application>
  <PresentationFormat>Ekran Gösterisi (4:3)</PresentationFormat>
  <Paragraphs>24</Paragraphs>
  <Slides>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</vt:i4>
      </vt:variant>
    </vt:vector>
  </HeadingPairs>
  <TitlesOfParts>
    <vt:vector size="6" baseType="lpstr">
      <vt:lpstr>Arial</vt:lpstr>
      <vt:lpstr>Calibri</vt:lpstr>
      <vt:lpstr>Franklin Gothic Book</vt:lpstr>
      <vt:lpstr>Office Theme</vt:lpstr>
      <vt:lpstr>SWOT Analizi – Energy Covert Channel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SWOT Analizi – Energy Covert Channel</dc:title>
  <dc:subject/>
  <dc:creator>ysf arkn</dc:creator>
  <cp:keywords/>
  <dc:description>generated using python-pptx</dc:description>
  <cp:lastModifiedBy>ysf arkn</cp:lastModifiedBy>
  <cp:revision>6</cp:revision>
  <dcterms:created xsi:type="dcterms:W3CDTF">2013-01-27T09:14:16Z</dcterms:created>
  <dcterms:modified xsi:type="dcterms:W3CDTF">2025-11-03T17:09:49Z</dcterms:modified>
  <cp:category/>
</cp:coreProperties>
</file>